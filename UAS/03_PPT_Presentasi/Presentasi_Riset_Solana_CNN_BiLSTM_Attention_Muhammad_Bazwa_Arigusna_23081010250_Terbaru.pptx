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vjt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77240"/>
            <a:ext cx="1234440" cy="12142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3120" y="77724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DE047"/>
                </a:solidFill>
                <a:latin typeface="Arial"/>
              </a:defRPr>
            </a:pPr>
            <a:r>
              <a:t>PRESENTASI PROPOSAL &amp; PUBLIKASI RISET INFORMATIKA (UTS &amp; UAS)</a:t>
            </a:r>
          </a:p>
          <a:p>
            <a:pPr>
              <a:defRPr sz="1200">
                <a:solidFill>
                  <a:srgbClr val="E2E8F0"/>
                </a:solidFill>
                <a:latin typeface="Arial"/>
              </a:defRPr>
            </a:pPr>
            <a:r>
              <a:t>FAKULTAS ILMU KOMPUTER — PROGRAM STUDI INFORMATIKA</a:t>
            </a:r>
            <a:br/>
            <a:r>
              <a:t>UNIVERSITAS PEMBANGUNAN NASIONAL "VETERAN" JAWA TIMUR (2026)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0817352" cy="2240280"/>
          </a:xfrm>
          <a:prstGeom prst="roundRect">
            <a:avLst/>
          </a:prstGeom>
          <a:solidFill>
            <a:srgbClr val="1E3A6C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PREDIKSI PERGERAKAN HARGA SOLANA MENGGUNAKAN MODEL HIBRIDA CNN-BILSTM DENGAN MEKANISME ATTENTION BERBASIS INDIKATOR TEKNIKAL</a:t>
            </a:r>
          </a:p>
          <a:p>
            <a:br/>
            <a:pPr>
              <a:defRPr sz="1350">
                <a:solidFill>
                  <a:srgbClr val="99F6E4"/>
                </a:solidFill>
                <a:latin typeface="Arial"/>
              </a:defRPr>
            </a:pPr>
            <a:r>
              <a:t>Studi Komparatif &amp; Ablasi terhadap Arsitektur LSTM, GRU, BiLSTM, dan CNN-BiLSTM pada Dataset Multivariat SOL-USD (2021–2026)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09160"/>
            <a:ext cx="10817352" cy="1508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rial"/>
              </a:defRPr>
            </a:pPr>
            <a:r>
              <a:t>Peneliti / Mahasiswa :  Muhammad Bazwa Arigusna   (NPM. 23081010250)</a:t>
            </a:r>
          </a:p>
          <a:p>
            <a:pPr>
              <a:defRPr sz="1450" b="1">
                <a:solidFill>
                  <a:srgbClr val="FDBA74"/>
                </a:solidFill>
                <a:latin typeface="Arial"/>
              </a:defRPr>
            </a:pPr>
            <a:r>
              <a:t>Dosen Pengampu / Pembimbing :  Dr. Basuki Rahmat, S.Si., MT.</a:t>
            </a:r>
          </a:p>
          <a:p>
            <a:pPr>
              <a:defRPr sz="1200">
                <a:solidFill>
                  <a:srgbClr val="CBD5E1"/>
                </a:solidFill>
                <a:latin typeface="Arial"/>
              </a:defRPr>
            </a:pPr>
            <a:r>
              <a:t>Target Luaran :  Proposal Skripsi Standar Fasilkom UPNVJT 2025 &amp; Publikasi Jurnal Nasional Terakreditasi SINTA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1. Latar Belakang &amp; Urgensi Penelitian</a:t>
            </a:r>
          </a:p>
          <a:p>
            <a:pPr>
              <a:defRPr sz="1150">
                <a:solidFill>
                  <a:srgbClr val="CBD5E1"/>
                </a:solidFill>
                <a:latin typeface="Arial"/>
              </a:defRPr>
            </a:pPr>
            <a:r>
              <a:t>Mengapa Prediksi Pergerakan Harga Solana (SOL-USD) Sangat Penting untuk Diteliti?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Muhammad Bazwa Arigusna (NPM 23081010250)  |  Dosen Pengampu: Dr. Basuki Rahmat, S.Si., MT.  |  Informatika UPNVJT     [2/13]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53212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16736"/>
            <a:ext cx="52029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/>
              </a:defRPr>
            </a:pPr>
            <a:r>
              <a:t>Keunggulan &amp; Karakteristik Unik Blockchain Solana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Infrastruktur Layer-1 generasi ketiga yang memadukan konsensus Proof of History (PoH) dan Proof of Stake (PoS) [3], [4].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Kapasitas throughput tinggi (ribuan TPS) dengan waktu blok ~400 ms mendorong ledakan aktivitas DEX, DeFi, dan NFT [6], [7].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Tingginya aktivitas perdagangan algoritmik memicu mikrostruktur pasar yang jauh lebih fluktuatif dibanding Bitcoin [8], [9].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Rentang harga historis 2021–2026 bergerak ekstrem dari USD 2,99 hingga USD 261,87 (simpangan baku USD 66,82).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Model statistik linier (ARIMA/GARCH) gagal memetakan dinamika non-stasioner dan lonjakan harga mendadak pada Solana [9], [10].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53212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316736"/>
            <a:ext cx="52029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A580C"/>
                </a:solidFill>
                <a:latin typeface="Arial"/>
              </a:defRPr>
            </a:pPr>
            <a:r>
              <a:t>Kelemahan Metode Eksisting &amp; Solusi yang Diusulkan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Model LSTM dan GRU standar pada riset terdahulu [16], [18], [20] mayoritas hanya menggunakan harga penutupan univariat.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Tanpa indikator momentum (RSI, MACD) dan volatilitas (Bollinger Bands, ATR), model rentan mengalami keterlambatan fase (lagging).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Jaringan rekuren murni belum dilengkapi penyaring fitur morfologi lokal antar-indikator (1D-CNN) [25], [26].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Pemampatan sekuen 20 hari ke satu hidden state akhir menghilangkan fokus pada langkah waktu krusial.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SOLUSI USULAN: Arsitektur Hibrida CNN-BiLSTM + Temporal Bahdanau Attention berbasis 14 fitur indikator teknikal.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2. Rumusan Masalah, Tujuan, &amp; Batasan Penelitian</a:t>
            </a:r>
          </a:p>
          <a:p>
            <a:pPr>
              <a:defRPr sz="1150">
                <a:solidFill>
                  <a:srgbClr val="CBD5E1"/>
                </a:solidFill>
                <a:latin typeface="Arial"/>
              </a:defRPr>
            </a:pPr>
            <a:r>
              <a:t>Fokus Pertanyaan Penelitian (Research Questions) dan Ruang Lingkup Eksperimen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Muhammad Bazwa Arigusna (NPM 23081010250)  |  Dosen Pengampu: Dr. Basuki Rahmat, S.Si., MT.  |  Informatika UPNVJT     [3/13]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53212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16736"/>
            <a:ext cx="52029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/>
              </a:defRPr>
            </a:pPr>
            <a:r>
              <a:t>Rumusan Masalah &amp; Tujuan Penelitian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RQ1: Bagaimana mengonstruksi matriks 14 fitur multivariat (OHLCV + 9 indikator teknikal) pada deret waktu harian Solana?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RQ2: Bagaimana merancang arsitektur hibrida CNN-BiLSTM dengan mekanisme Temporal Attention untuk prediksi harga SOL-USD?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RQ3: Seberapa besar peningkatan akurasi model usulan dibanding LSTM, GRU, BiLSTM, dan CNN-BiLSTM (MAE, RMSE, MAPE, R², DA)?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RQ4: Bagaimana kontribusi indikator teknikal pada studi ablasi (univariat vs multivariat) serta interpretasi bobot perhatian α_t?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Tujuan: Mencapai kesalahan MAPE &lt; 2% dan ketepatan arah (Directional Accuracy) &gt; 75% pada data uji.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53212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316736"/>
            <a:ext cx="52029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/>
              </a:defRPr>
            </a:pPr>
            <a:r>
              <a:t>Batasan Masalah &amp; Kontribusi Penelitian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Objek Data: Pasangan perdagangan harian SOL-USD dari Yahoo Finance periode 1 Januari 2021 – 30 September 2026 (2.080 baris bersih).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Variabel Input: 14 fitur (Close, Open, High, Low, Volume, EMA-14, EMA-50, RSI-14, MACD, Signal, BB Upper/Lower, ATR-14, OBV).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Jendela Sekuensial (Lookback Window): T = 20 hari perdagangan untuk memprediksi harga penutupan t + 1.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Pembagian Kronologis (Tanpa Kebocoran Data): 70% Data Latih (1.456 hari), 15% Validasi (312 hari), 15% Uji (312 hari).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Landasan Literatur: Didukung 48 referensi paper riil (2021–2026) terindeks SINTA 2/3 dan Scopus/IEEE.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3. Peta Konsep Penelitian (Research Mind Map)</a:t>
            </a:r>
          </a:p>
          <a:p>
            <a:pPr>
              <a:defRPr sz="1150">
                <a:solidFill>
                  <a:srgbClr val="CBD5E1"/>
                </a:solidFill>
                <a:latin typeface="Arial"/>
              </a:defRPr>
            </a:pPr>
            <a:r>
              <a:t>Pemetaan Menyeluruh Masalah, Research Gap, Dataset, Metodologi, Evaluasi, dan Luaran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Muhammad Bazwa Arigusna (NPM 23081010250)  |  Dosen Pengampu: Dr. Basuki Rahmat, S.Si., MT.  |  Informatika UPNVJT     [4/13]</a:t>
            </a:r>
          </a:p>
        </p:txBody>
      </p:sp>
      <p:pic>
        <p:nvPicPr>
          <p:cNvPr id="8" name="Picture 7" descr="research_mind_map_sol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15568"/>
            <a:ext cx="10424160" cy="6949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4. Analisis Research Gap &amp; Matriks State-of-the-Art</a:t>
            </a:r>
          </a:p>
          <a:p>
            <a:pPr>
              <a:defRPr sz="1150">
                <a:solidFill>
                  <a:srgbClr val="CBD5E1"/>
                </a:solidFill>
                <a:latin typeface="Arial"/>
              </a:defRPr>
            </a:pPr>
            <a:r>
              <a:t>Perbandingan Posisi Penelitian terhadap Studi Terdahulu (2021–2026) dari 48 Referensi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Muhammad Bazwa Arigusna (NPM 23081010250)  |  Dosen Pengampu: Dr. Basuki Rahmat, S.Si., MT.  |  Informatika UPNVJT     [5/13]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170432"/>
          <a:ext cx="11365992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331720"/>
                <a:gridCol w="1234440"/>
                <a:gridCol w="1783080"/>
                <a:gridCol w="1600200"/>
                <a:gridCol w="3364992"/>
              </a:tblGrid>
              <a:tr h="63436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Ref &amp; Tahun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Penulis &amp; Jurnal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Objek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Metode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Fitur Input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Celah Penelitian (Gap)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[1]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Rizkilloh &amp; Widiyanesti (Jurnal RESTI - SINTA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Crypto (BTC)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OHLCV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Tanpa ekstraksi 1D-CNN, BiLSTM dua arah, &amp; Attention.</a:t>
                      </a:r>
                    </a:p>
                  </a:txBody>
                  <a:tcPr anchor="ctr"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[2]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Seabe dkk. (Fractal &amp; Fractional - Scopus Q1)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BTC, ETH, LTC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LSTM, GRU, 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Close &amp; Volume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Representasi bertumpu pada hidden state akhir (tanpa Attention).</a:t>
                      </a:r>
                    </a:p>
                  </a:txBody>
                  <a:tcPr anchor="ctr"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[16]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Aldo dkk. (IEEE ITIS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Solana (SOL)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Varian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SOL/USD Univariat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Belum mengintegrasikan 1D-CNN, BiLSTM, &amp; 9 indikator teknikal.</a:t>
                      </a:r>
                    </a:p>
                  </a:txBody>
                  <a:tcPr anchor="ctr"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[17]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Pane dkk. (IEEE ICTS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Solana (SOL)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Stacked Ensemble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Lag &amp; 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Belum menyertakan osilator momentum (RSI, MACD) &amp; volatilitas (ATR, BB).</a:t>
                      </a:r>
                    </a:p>
                  </a:txBody>
                  <a:tcPr anchor="ctr"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[18]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Herdian (Jurnal SOSTECH - SINTA 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Solana (SOL)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LSTM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Harga Jangka Pendek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Rentan mengalami keterlambatan fase (lagging) pada lonjakan ekstrem.</a:t>
                      </a:r>
                    </a:p>
                  </a:txBody>
                  <a:tcPr anchor="ctr"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[25]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Diash, Idhom, &amp; Trimono (JAIC - SINTA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Ethereum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Hybrid CNN-BiLSTM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Harga Historis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50" b="0">
                          <a:latin typeface="Arial"/>
                        </a:defRPr>
                      </a:pPr>
                      <a:r>
                        <a:t>Sudah menggabungkan CNN-BiLSTM, namun belum ada Temporal Attention.</a:t>
                      </a:r>
                    </a:p>
                  </a:txBody>
                  <a:tcPr anchor="ctr"/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950" b="1">
                          <a:latin typeface="Arial"/>
                        </a:defRPr>
                      </a:pPr>
                      <a:r>
                        <a:t>Usulan (2026)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Arial"/>
                        </a:defRPr>
                      </a:pPr>
                      <a:r>
                        <a:t>Arigusna &amp; Rahmat (Penelitian Ini)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Arial"/>
                        </a:defRPr>
                      </a:pPr>
                      <a:r>
                        <a:t>Solana (SOL)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Arial"/>
                        </a:defRPr>
                      </a:pPr>
                      <a:r>
                        <a:t>Hybrid CNN-BiLSTM + Attention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Arial"/>
                        </a:defRPr>
                      </a:pPr>
                      <a:r>
                        <a:t>14 Fitur (OHLCV + 9 Indikator)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latin typeface="Arial"/>
                        </a:defRPr>
                      </a:pPr>
                      <a:r>
                        <a:t>Menjawab seluruh gap: 1D-CNN + BiLSTM + Bahdanau Attention + Evaluasi DA &amp; Ablasi.</a:t>
                      </a:r>
                    </a:p>
                  </a:txBody>
                  <a:tcPr anchor="ctr"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5. Tahapan Metodologi Penelitian</a:t>
            </a:r>
          </a:p>
          <a:p>
            <a:pPr>
              <a:defRPr sz="1150">
                <a:solidFill>
                  <a:srgbClr val="CBD5E1"/>
                </a:solidFill>
                <a:latin typeface="Arial"/>
              </a:defRPr>
            </a:pPr>
            <a:r>
              <a:t>Enam Tahapan Sistematis dari Akuisisi Data hingga Evaluasi Multi-Metrik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Muhammad Bazwa Arigusna (NPM 23081010250)  |  Dosen Pengampu: Dr. Basuki Rahmat, S.Si., MT.  |  Informatika UPNVJT     [6/13]</a:t>
            </a:r>
          </a:p>
        </p:txBody>
      </p:sp>
      <p:pic>
        <p:nvPicPr>
          <p:cNvPr id="8" name="Picture 7" descr="fig_metodologi_penelit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143000"/>
            <a:ext cx="100584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6. Dataset Riset Kecil &amp; Rekayasa 14 Fitur Multivariat</a:t>
            </a:r>
          </a:p>
          <a:p>
            <a:pPr>
              <a:defRPr sz="1150">
                <a:solidFill>
                  <a:srgbClr val="CBD5E1"/>
                </a:solidFill>
                <a:latin typeface="Arial"/>
              </a:defRPr>
            </a:pPr>
            <a:r>
              <a:t>Dinamika Historis SOL-USD (2.080 Hari Bersih: 2021–2026) dan Indikator Teknikal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Muhammad Bazwa Arigusna (NPM 23081010250)  |  Dosen Pengampu: Dr. Basuki Rahmat, S.Si., MT.  |  Informatika UPNVJT     [7/13]</a:t>
            </a:r>
          </a:p>
        </p:txBody>
      </p:sp>
      <p:pic>
        <p:nvPicPr>
          <p:cNvPr id="8" name="Picture 7" descr="fig1_solana_price_and_indic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6720840" cy="51933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143000"/>
            <a:ext cx="4462272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1271016"/>
            <a:ext cx="4133087" cy="4901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/>
              </a:defRPr>
            </a:pPr>
            <a:r>
              <a:t>Spesifikasi Dataset &amp; Indikator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Total Observasi Bersih: 2080 hari (2021-01-20 s.d. 2026-09-30).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5 Variabel Pasar: Close (Target), Open, High, Low, Volume.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2 Indikator Tren: EMA_14 &amp; EMA_50.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3 Indikator Momentum: RSI_14, MACD, &amp; MACD_Signal.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3 Indikator Volatilitas: BB_Upper, BB_Lower, &amp; ATR_14.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1 Indikator Akumulasi Volume: On-Balance Volume (OBV).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Normalisasi: Min-Max [0, 1] di-fit khusus pada Data Latih (70%).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7. Analisis Korelasi Pearson &amp; Formulasi Matematis</a:t>
            </a:r>
          </a:p>
          <a:p>
            <a:pPr>
              <a:defRPr sz="1150">
                <a:solidFill>
                  <a:srgbClr val="CBD5E1"/>
                </a:solidFill>
                <a:latin typeface="Arial"/>
              </a:defRPr>
            </a:pPr>
            <a:r>
              <a:t>Verifikasi Ortogonalitas Informasi Indikator Teknikal dan Rumus Utama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Muhammad Bazwa Arigusna (NPM 23081010250)  |  Dosen Pengampu: Dr. Basuki Rahmat, S.Si., MT.  |  Informatika UPNVJT     [8/13]</a:t>
            </a:r>
          </a:p>
        </p:txBody>
      </p:sp>
      <p:pic>
        <p:nvPicPr>
          <p:cNvPr id="8" name="Picture 7" descr="fig2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6080760" cy="49926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75120" y="1143000"/>
            <a:ext cx="5102352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1271016"/>
            <a:ext cx="4773168" cy="4901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/>
              </a:defRPr>
            </a:pPr>
            <a:r>
              <a:t>Persamaan Matematis Inti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Normalisasi Min-Max:  x'_t = (x_t - x_min) / (x_max - x_min)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Konvolusi Lokal 1D-CNN:  c_t = LeakyReLU( ∑ W_{c,j} · x_{t+j} + b_c 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Representasi Dua Arah BiLSTM:  H_t = [ h_t^(forward)  ⊕  h_t^(backward) ]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Skor Energi Attention:  e_t = v^T · tanh( W_a H_t + b_a 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Bobot Probabilitas Attention:  α_t = exp(e_t) / ∑_{k=1}^T exp(e_k)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Estimasi Output Hibrida:  ŷ_{t+1} = W_out LeakyReLU(W_d (∑ α_t H_t + H_T) + b_d) + W_res x_T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8. Arsitektur Model Usulan: Hybrid CNN-BiLSTM-Attention</a:t>
            </a:r>
          </a:p>
          <a:p>
            <a:pPr>
              <a:defRPr sz="1150">
                <a:solidFill>
                  <a:srgbClr val="CBD5E1"/>
                </a:solidFill>
                <a:latin typeface="Arial"/>
              </a:defRPr>
            </a:pPr>
            <a:r>
              <a:t>Sinergi Ekstraksi Lokal 1D-CNN, Sekuensial Dua Arah BiLSTM, dan Temporal 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Muhammad Bazwa Arigusna (NPM 23081010250)  |  Dosen Pengampu: Dr. Basuki Rahmat, S.Si., MT.  |  Informatika UPNVJT     [9/13]</a:t>
            </a:r>
          </a:p>
        </p:txBody>
      </p:sp>
      <p:pic>
        <p:nvPicPr>
          <p:cNvPr id="8" name="Picture 7" descr="fig3_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4800600"/>
            <a:ext cx="1097280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4928616"/>
            <a:ext cx="10643616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/>
              </a:defRPr>
            </a:pPr>
            <a:r>
              <a:t>Keunggulan Desain Arsitektur (40.321 Parameter Terlatih)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1D-CNN (32 filter, kernel k=3, LeakyReLU) mengekstraksi interaksi lintas indikator teknikal sebelum masuk ke lapisan rekuren.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BiLSTM (2 × 48 unit) menangkap konteks temporal maju-mundur, sedangkan Bahdanau Attention memberi bobot adaptif α_t pada 20 hari terakhir.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9. Hasil Eksperimen: Konvergensi Loss &amp; Tabel Komparasi</a:t>
            </a:r>
          </a:p>
          <a:p>
            <a:pPr>
              <a:defRPr sz="1150">
                <a:solidFill>
                  <a:srgbClr val="CBD5E1"/>
                </a:solidFill>
                <a:latin typeface="Arial"/>
              </a:defRPr>
            </a:pPr>
            <a:r>
              <a:t>Perbandingan Kuantitatif pada Data Latih (1.456 Hari) dan Data Uji (312 Hari)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Muhammad Bazwa Arigusna (NPM 23081010250)  |  Dosen Pengampu: Dr. Basuki Rahmat, S.Si., MT.  |  Informatika UPNVJT     [10/13]</a:t>
            </a:r>
          </a:p>
        </p:txBody>
      </p:sp>
      <p:pic>
        <p:nvPicPr>
          <p:cNvPr id="8" name="Picture 7" descr="fig4_training_validation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38560" cy="4638502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4160520"/>
          <a:ext cx="1136599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888"/>
                <a:gridCol w="1262888"/>
                <a:gridCol w="1262888"/>
                <a:gridCol w="1262888"/>
                <a:gridCol w="1262888"/>
                <a:gridCol w="1262888"/>
                <a:gridCol w="1262888"/>
                <a:gridCol w="1262888"/>
                <a:gridCol w="1262888"/>
              </a:tblGrid>
              <a:tr h="30697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Arsitektur Model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Train MAE ($)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Train MAPE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MAE ($)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RMSE ($)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MAPE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R² Score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Directional Acc. (DA)</a:t>
                      </a:r>
                    </a:p>
                  </a:txBody>
                  <a:tcPr anchor="ctr">
                    <a:solidFill>
                      <a:srgbClr val="12284C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34,501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$4.48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$3.81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$4.85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4.15%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0.9522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46.15%</a:t>
                      </a:r>
                    </a:p>
                  </a:txBody>
                  <a:tcPr anchor="ctr"/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26,201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$3.73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5.46%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$2.74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$3.58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2.94%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0.9740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53.53%</a:t>
                      </a:r>
                    </a:p>
                  </a:txBody>
                  <a:tcPr anchor="ctr"/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58,371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$3.23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4.49%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$2.45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$3.32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2.62%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0.9776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58.01%</a:t>
                      </a:r>
                    </a:p>
                  </a:txBody>
                  <a:tcPr anchor="ctr"/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CNN-BiLSTM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35,617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$2.84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4.54%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$2.15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$2.88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2.28%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0.9832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60.58%</a:t>
                      </a:r>
                    </a:p>
                  </a:txBody>
                  <a:tcPr anchor="ctr"/>
                </a:tc>
              </a:tr>
              <a:tr h="306977"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CNN-BiLSTM-Attention (Usulan)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40,321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$2.12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3.14%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$1.54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$2.09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1.62%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0.9912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latin typeface="Arial"/>
                        </a:defRPr>
                      </a:pPr>
                      <a:r>
                        <a:t>77.88%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306978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CNN-BiLSTM-Attention (Univariat)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39,073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$3.98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5.55%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$2.67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$3.74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2.81%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0.9716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50.00%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10. Perbandingan Kurva Harga Aktual vs Prediksi Model</a:t>
            </a:r>
          </a:p>
          <a:p>
            <a:pPr>
              <a:defRPr sz="1150">
                <a:solidFill>
                  <a:srgbClr val="CBD5E1"/>
                </a:solidFill>
                <a:latin typeface="Arial"/>
              </a:defRPr>
            </a:pPr>
            <a:r>
              <a:t>Evaluasi Visual pada Periode Pengujian (23 November 2025 – 30 September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Muhammad Bazwa Arigusna (NPM 23081010250)  |  Dosen Pengampu: Dr. Basuki Rahmat, S.Si., MT.  |  Informatika UPNVJT     [11/13]</a:t>
            </a:r>
          </a:p>
        </p:txBody>
      </p:sp>
      <p:pic>
        <p:nvPicPr>
          <p:cNvPr id="8" name="Picture 7" descr="fig5_actual_vs_predicted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15568"/>
            <a:ext cx="10607040" cy="50142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11. Analisis Metrik Evaluasi, Bobot Attention, &amp; Residual</a:t>
            </a:r>
          </a:p>
          <a:p>
            <a:pPr>
              <a:defRPr sz="1150">
                <a:solidFill>
                  <a:srgbClr val="CBD5E1"/>
                </a:solidFill>
                <a:latin typeface="Arial"/>
              </a:defRPr>
            </a:pPr>
            <a:r>
              <a:t>Bukti Keunggulan Akurasi Titik (MAE/MAPE), Akurasi Arah (DA), dan Distribusi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Muhammad Bazwa Arigusna (NPM 23081010250)  |  Dosen Pengampu: Dr. Basuki Rahmat, S.Si., MT.  |  Informatika UPNVJT     [12/13]</a:t>
            </a:r>
          </a:p>
        </p:txBody>
      </p:sp>
      <p:pic>
        <p:nvPicPr>
          <p:cNvPr id="8" name="Picture 7" descr="fig6_metrics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5806440" cy="2119811"/>
          </a:xfrm>
          <a:prstGeom prst="rect">
            <a:avLst/>
          </a:prstGeom>
        </p:spPr>
      </p:pic>
      <p:pic>
        <p:nvPicPr>
          <p:cNvPr id="9" name="Picture 8" descr="fig7_attention_weights_and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5394960" cy="21089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3794760"/>
            <a:ext cx="1133856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3922776"/>
            <a:ext cx="11009376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/>
              </a:defRPr>
            </a:pPr>
            <a:r>
              <a:t>Temuan Kunci Eksperimen &amp; Studi Ablasi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Penurunan Error Signifikan: Model usulan CNN-BiLSTM-Attention menekan MAPE hingga 1,62% (kategori Sangat Akurat &lt; 10%), turun 60,96% dibanding LSTM (4,15%) dan 44,90% dibanding GRU (2,94%).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Ketepatan Arah Pasar (Directional Accuracy): Mencapai 77,88%, jauh melampaui LSTM (46,15%), GRU (53,53%), BiLSTM (58,01%), dan CNN-BiLSTM tanpa Attention (60,58%).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Bukti Studi Ablasi Multivariat: Penggunaan 14 fitur indikator teknikal meningkatkan Directional Accuracy sebesar +27,88% dibanding input univariat harga Close (50,00%).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Interpretabilitas Bobot Attention (α_t): Jaringan secara cerdas memfokuskan bobot tertinggi pada t-5 s.d. t-1 (puncak α_{t-1} = 0,1485) sehingga menghilangkan efek keterlambatan fase (lagging).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12. Kesimpulan &amp; Saran Pengembangan Riset</a:t>
            </a:r>
          </a:p>
          <a:p>
            <a:pPr>
              <a:defRPr sz="1150">
                <a:solidFill>
                  <a:srgbClr val="CBD5E1"/>
                </a:solidFill>
                <a:latin typeface="Arial"/>
              </a:defRPr>
            </a:pPr>
            <a:r>
              <a:t>Ringkasan Capaian Penelitian UTS &amp; UAS serta Arah Penelitian Masa Depan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28816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Muhammad Bazwa Arigusna (NPM 23081010250)  |  Dosen Pengampu: Dr. Basuki Rahmat, S.Si., MT.  |  Informatika UPNVJT     [13/13]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53212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2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16736"/>
            <a:ext cx="52029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2284C"/>
                </a:solidFill>
                <a:latin typeface="Arial"/>
              </a:defRPr>
            </a:pPr>
            <a:r>
              <a:t>Kesimpulan Utama Penelitian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1. Integrasi 9 indikator teknikal (EMA-14/50, RSI-14, MACD, Signal, BB Upper/Lower, ATR-14, OBV) dengan data OHLCV pada 2.080 hari perdagangan Solana terbukti memberikan sinyal tren, momentum, dan volatilitas yang komprehensif.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2. Arsitektur hibrida CNN-BiLSTM-Attention berhasil menggabungkan ekstraksi lokal 1D-CNN, konteks dua arah BiLSTM, dan seleksi waktu adaptif Bahdanau Attention.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3. Pada data uji, model usulan mencapai kinerja terbaik: MAE USD 1,54; RMSE USD 2,09; MAPE 1,62%; R² 0,9912; dan Directional Accuracy 77,88%.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4. Studi ablasi membuktikan peran vital indikator teknikal multivariat dalam mereduksi kesalahan prediksi sebesar 42,35% dibanding model univariat.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53212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316736"/>
            <a:ext cx="5202936" cy="485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A580C"/>
                </a:solidFill>
                <a:latin typeface="Arial"/>
              </a:defRPr>
            </a:pPr>
            <a:r>
              <a:t>Saran Pengembangan Selanjutnya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1. Integrasi Data On-Chain Solana Real-Time: Menambahkan metrik spesifik jaringan Solana seperti Total Value Locked (TVL) DeFi, biaya prioritas transaksi, active wallets, dan rasio kegagalan transaksi [5], [6].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2. Penggabungan Sentimen Multi-Modal: Mengombinasikan fitur indikator teknikal dengan skor sentimen berita finansial menggunakan model bahasa FinBERT [48].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3. Optimasi Hiperparameter Metaheuristik: Mengeksplorasi algoritma Bayesian Optimization [43] untuk penentuan otomatis jumlah filter dan ukuran jendela lookback.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4. Pengujian Multi-Horizon: Memperluas prediksi ke horizon t+3 dan t+7 hari.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